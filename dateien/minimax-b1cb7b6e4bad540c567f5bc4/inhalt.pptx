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anbauberlin.wordpress.com/2026/10/20/heizung-holzanbau-anbindung-bestandsgebaeude/" TargetMode="External"/><Relationship Id="rId3" Type="http://schemas.openxmlformats.org/officeDocument/2006/relationships/hyperlink" Target="https://holzundhaus.github.io/holzanbauberlin/dateien/minimax-b1cb7b6e4bad540c567f5bc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im Holzanbau: Anbindung an das Bestandsgebäude oder eigenständige Wärmeversorgung · Erklärende Präsentation</a:t>
            </a:r>
          </a:p>
        </p:txBody>
      </p:sp>
      <p:sp>
        <p:nvSpPr>
          <p:cNvPr id="3" name="Content Placeholder 2"/>
          <p:cNvSpPr>
            <a:spLocks noGrp="1"/>
          </p:cNvSpPr>
          <p:nvPr>
            <p:ph idx="1"/>
          </p:nvPr>
        </p:nvSpPr>
        <p:spPr/>
        <p:txBody>
          <a:bodyPr/>
          <a:lstStyle/>
          <a:p>
            <a:r>
              <a:t>Überblick: Ein Holzanbau in Berlin verändert die Wärmebilanz des Hauses. Bevor Details zu Flächen, Gauben oder Verglasungen feststehen, stellt sich eine grundlegende Frage: Wie wird der neue Raum beheizt und wie lässt sich die Wärmeversorgung sinnvoll an das Bestandsgebäude anbinden? Die Antwort beeinflusst nicht nur den Komfort, sondern auch die Kosten, den Planungsaufwand und die langfristige Energiebilanz des Gesamtvorhabens.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Faktoren bestimmen die Heizungsplanung</a:t>
            </a:r>
          </a:p>
        </p:txBody>
      </p:sp>
      <p:sp>
        <p:nvSpPr>
          <p:cNvPr id="3" name="Content Placeholder 2"/>
          <p:cNvSpPr>
            <a:spLocks noGrp="1"/>
          </p:cNvSpPr>
          <p:nvPr>
            <p:ph idx="1"/>
          </p:nvPr>
        </p:nvSpPr>
        <p:spPr/>
        <p:txBody>
          <a:bodyPr/>
          <a:lstStyle/>
          <a:p>
            <a:pPr>
              <a:defRPr sz="1800"/>
            </a:pPr>
            <a:r>
              <a:t>Die Wahl der richtigen Lösung hängt von drei zentralen Größen ab: der Größe und Nutzung des Anbaus, dem Zustand der vorhandenen Heizung und der Energiequelle, die im Haus bereits genutzt wird. Ein vollwertiger Wohnraum mit Bad stellt andere Anforderungen als ein Arbeitszimmer, das nur tagsüber genutzt wird. Ist die Bestandsheizung bereits an ihrer Leistungsgrenze, ist eine Erweiterung nicht ohne Weiteres möglich. Dann muss vorab geprüft werden, welche Nennleistung installiert ist, ob Brennwerttechnik vorliegt und welche Vorlauftemperaturen gefahren werden. Gas, Öl, Fernwärme oder Wärmepumpe unterscheiden sich zudem in den möglichen Vorlauftem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Faktoren bestimmen die Heizungsplanung</a:t>
            </a:r>
          </a:p>
        </p:txBody>
      </p:sp>
      <p:sp>
        <p:nvSpPr>
          <p:cNvPr id="3" name="Content Placeholder 2"/>
          <p:cNvSpPr>
            <a:spLocks noGrp="1"/>
          </p:cNvSpPr>
          <p:nvPr>
            <p:ph idx="1"/>
          </p:nvPr>
        </p:nvSpPr>
        <p:spPr/>
        <p:txBody>
          <a:bodyPr/>
          <a:lstStyle/>
          <a:p>
            <a:pPr>
              <a:defRPr sz="1800"/>
            </a:pPr>
            <a:r>
              <a:t>peraturen und darin, ob sich eine ergänzende Luft-Luft-Lösung oder eine eigene Wärmepumpe überhaupt anbietet.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bestehende Heizung</a:t>
            </a:r>
          </a:p>
        </p:txBody>
      </p:sp>
      <p:sp>
        <p:nvSpPr>
          <p:cNvPr id="3" name="Content Placeholder 2"/>
          <p:cNvSpPr>
            <a:spLocks noGrp="1"/>
          </p:cNvSpPr>
          <p:nvPr>
            <p:ph idx="1"/>
          </p:nvPr>
        </p:nvSpPr>
        <p:spPr/>
        <p:txBody>
          <a:bodyPr/>
          <a:lstStyle/>
          <a:p>
            <a:pPr>
              <a:defRPr sz="1800"/>
            </a:pPr>
            <a:r>
              <a:t>Wenn der Anbau nicht zu groß ausfällt und die Bestandsheizung Reserven mitbringt, ist die Anbindung an das bestehende System häufig die wirtschaftlichste Lösung. Sie spart einen eigenen Wärmeerzeuger und nutzt die vorhandene Verteilung. Leitungen für Heizung und Warmwasser werden dabei durch die Außenwand oder im Bereich des Durchbruchs verlegt. An dieser Schnittstelle treffen Holzkonstruktion und Bestandswand aufeinander. Die genaue Trassenführung bestimmt, wie viel Eingriff in den Bestand nötig ist und welche Oberflächen anschließend wiederhergestellt werden müssen. Eine zusätzliche Heizfläche verändert zudem die Hydraulik des Systems. Ohne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bestehende Heizung</a:t>
            </a:r>
          </a:p>
        </p:txBody>
      </p:sp>
      <p:sp>
        <p:nvSpPr>
          <p:cNvPr id="3" name="Content Placeholder 2"/>
          <p:cNvSpPr>
            <a:spLocks noGrp="1"/>
          </p:cNvSpPr>
          <p:nvPr>
            <p:ph idx="1"/>
          </p:nvPr>
        </p:nvSpPr>
        <p:spPr/>
        <p:txBody>
          <a:bodyPr/>
          <a:lstStyle/>
          <a:p>
            <a:pPr>
              <a:defRPr sz="1800"/>
            </a:pPr>
            <a:r>
              <a:t> einen Abgleich des gesamten Netzes und gegebenenfalls einen neuen Verteiler oder eine leistungsfähigere Pumpe riskiert man, dass die neuen Heizflächen unterversorgt und die alten überversorgt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Eigenständige Wärmeerzeugung</a:t>
            </a:r>
          </a:p>
        </p:txBody>
      </p:sp>
      <p:sp>
        <p:nvSpPr>
          <p:cNvPr id="3" name="Content Placeholder 2"/>
          <p:cNvSpPr>
            <a:spLocks noGrp="1"/>
          </p:cNvSpPr>
          <p:nvPr>
            <p:ph idx="1"/>
          </p:nvPr>
        </p:nvSpPr>
        <p:spPr/>
        <p:txBody>
          <a:bodyPr/>
          <a:lstStyle/>
          <a:p>
            <a:pPr>
              <a:defRPr sz="1800"/>
            </a:pPr>
            <a:r>
              <a:t>Eine eigene Heizung im Anbau kann sinnvoll sein, wenn der Bestandskessel alt oder zu klein dimensioniert ist, der Anbau räumlich getrennt liegt oder die Nutzung zeitlich eingeschränkt erfolgt. Auch wenn der Bauherr den Raum unabhängig nutzen oder später vermieten möchte, bietet sich eine eigenständige Lösung an. Für kleine, gut gedämmte Räume ohne Warmwasserbedarf eignen sich elektrische Direktheizungen oder Infrarotflächen. Eine Luft-Luft-Wärmepumpe kombiniert Heizen und Kühlen und empfiehlt sich für Räume, die auch im Sommer genutzt werden. Eine kleine Luft-Wasser-Wärmepumpe kommt in Frage, wenn die Leistung zum geringen Bedarf passt und 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Eigenständige Wärmeerzeugung</a:t>
            </a:r>
          </a:p>
        </p:txBody>
      </p:sp>
      <p:sp>
        <p:nvSpPr>
          <p:cNvPr id="3" name="Content Placeholder 2"/>
          <p:cNvSpPr>
            <a:spLocks noGrp="1"/>
          </p:cNvSpPr>
          <p:nvPr>
            <p:ph idx="1"/>
          </p:nvPr>
        </p:nvSpPr>
        <p:spPr/>
        <p:txBody>
          <a:bodyPr/>
          <a:lstStyle/>
          <a:p>
            <a:pPr>
              <a:defRPr sz="1800"/>
            </a:pPr>
            <a:r>
              <a:t>e Aufstellfläche vorhanden ist. Bei einer eigenständigen Lösung sind ein eigener Stromkreis, Zuluft- und Kondensatleitungen sowie der Wartungszugang am Aufstellort zu beachten.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sorgfältig planen</a:t>
            </a:r>
          </a:p>
        </p:txBody>
      </p:sp>
      <p:sp>
        <p:nvSpPr>
          <p:cNvPr id="3" name="Content Placeholder 2"/>
          <p:cNvSpPr>
            <a:spLocks noGrp="1"/>
          </p:cNvSpPr>
          <p:nvPr>
            <p:ph idx="1"/>
          </p:nvPr>
        </p:nvSpPr>
        <p:spPr/>
        <p:txBody>
          <a:bodyPr/>
          <a:lstStyle/>
          <a:p>
            <a:pPr>
              <a:defRPr sz="1800"/>
            </a:pPr>
            <a:r>
              <a:t>Wo Leitungen durch eine Wandöffnung geführt werden, müssen brandschutztechnische Vorgaben eingehalten werden. Rohrdurchführungen durch feuerhemmende Bauteile benötigen geeignete Manschetten oder Schottungen. Mindestens ebenso wichtig ist die Luftdichtheit im Übergang zwischen Anbau und Bestand. Eine unterbrochene Dampfbremse oder eine Lücke in der Dämmebene führt zu Kondensat, Schimmelrisiko und Wärmeverlusten und macht selbst die beste Heizungsplanung zunichte. Ob die Temperatur im Anbau über den Wandthermostat des Bestands, eine eigene Regelung oder eine App gesteuert wird, hängt von der gewählten Schnittstelle ab. Eine getrennte Steuerung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sorgfältig planen</a:t>
            </a:r>
          </a:p>
        </p:txBody>
      </p:sp>
      <p:sp>
        <p:nvSpPr>
          <p:cNvPr id="3" name="Content Placeholder 2"/>
          <p:cNvSpPr>
            <a:spLocks noGrp="1"/>
          </p:cNvSpPr>
          <p:nvPr>
            <p:ph idx="1"/>
          </p:nvPr>
        </p:nvSpPr>
        <p:spPr/>
        <p:txBody>
          <a:bodyPr/>
          <a:lstStyle/>
          <a:p>
            <a:pPr>
              <a:defRPr sz="1800"/>
            </a:pPr>
            <a:r>
              <a:t>erleichtert das Absenken der Temperatur in Zeiten, in denen der Raum nicht genutzt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Einordnung und Vorbereitung</a:t>
            </a:r>
          </a:p>
        </p:txBody>
      </p:sp>
      <p:sp>
        <p:nvSpPr>
          <p:cNvPr id="3" name="Content Placeholder 2"/>
          <p:cNvSpPr>
            <a:spLocks noGrp="1"/>
          </p:cNvSpPr>
          <p:nvPr>
            <p:ph idx="1"/>
          </p:nvPr>
        </p:nvSpPr>
        <p:spPr/>
        <p:txBody>
          <a:bodyPr/>
          <a:lstStyle/>
          <a:p>
            <a:pPr>
              <a:defRPr sz="1800"/>
            </a:pPr>
            <a:r>
              <a:t>Der Holzanbau unterliegt den aktuellen Anforderungen an die Energieeffizienz und kann die energetische Bewertung des Gesamtgebäudes beeinflussen, etwa bei einer späteren Ausstellung eines Energieausweises. Daraus ergibt sich, dass die Heizung nicht isoliert vom Hüllenkonzept geplant werden darf. Als Vorbereitung empfiehlt es sich, Typ, Alter und Nennleistung der vorhandenen Heizung zu notieren, die gewünschte Fläche und Nutzung des Anbaus zu klären, festzulegen, ob Bad oder Küche enthalten sein sollen, die gewünschte Temperaturspreizung zu definieren und zu prüfen, wo im Angebot die Position für Heizung und Anschlüsse verortet ist. Mit diesen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Einordnung und Vorbereitung</a:t>
            </a:r>
          </a:p>
        </p:txBody>
      </p:sp>
      <p:sp>
        <p:nvSpPr>
          <p:cNvPr id="3" name="Content Placeholder 2"/>
          <p:cNvSpPr>
            <a:spLocks noGrp="1"/>
          </p:cNvSpPr>
          <p:nvPr>
            <p:ph idx="1"/>
          </p:nvPr>
        </p:nvSpPr>
        <p:spPr/>
        <p:txBody>
          <a:bodyPr/>
          <a:lstStyle/>
          <a:p>
            <a:pPr>
              <a:defRPr sz="1800"/>
            </a:pPr>
            <a:r>
              <a:t> Angaben lässt sich in einer strukturierten Anfrage klären, ob die Anbindung an das Bestandsgebäude machbar ist oder ob eine eigenständige Lösung die bessere Wahl darstellt.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Heizung im Holzanbau: Anbindung an das Bestandsgebäude oder eigenständige Wärmeversorgung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