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anbauberlin.wordpress.com/2026/10/27/bestandsschutz-altbau-holzanbau/" TargetMode="External"/><Relationship Id="rId3" Type="http://schemas.openxmlformats.org/officeDocument/2006/relationships/hyperlink" Target="https://holzundhaus.github.io/holzanbauberlin/dateien/minimax-e49ab7650c289343a8dfd3a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Bestandsschutz des Altbaus und Holzanbau: was bleibt, was wird neu bewertet · Erklärende Präsentation</a:t>
            </a:r>
          </a:p>
        </p:txBody>
      </p:sp>
      <p:sp>
        <p:nvSpPr>
          <p:cNvPr id="3" name="Content Placeholder 2"/>
          <p:cNvSpPr>
            <a:spLocks noGrp="1"/>
          </p:cNvSpPr>
          <p:nvPr>
            <p:ph idx="1"/>
          </p:nvPr>
        </p:nvSpPr>
        <p:spPr/>
        <p:txBody>
          <a:bodyPr/>
          <a:lstStyle/>
          <a:p>
            <a:r>
              <a:t>Überblick: Ein Holzanbau in Berlin wirkt sich häufig auch auf einen vorhandenen Altbau aus. Dabei entstehen zwei unterschiedliche rechtliche Fragen: Welcher Zustand des Gebäudes bleibt geschützt, und nach welchen Anforderungen ist der neue Holzanbau zu beurteilen? Wer Bestand, Eingriff und Neubau nicht sauber trennt, gerät schnell in eine sachlich unklare Planung. Der folgende Leitfaden zeigt, welche Bereiche vor der Entwurfsplanung unterschieden werden sollten und wo eine behördliche Abstimmung Klarheit schaffen kann.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zentrale Frage: Bleibt der Altbau unverändert?</a:t>
            </a:r>
          </a:p>
        </p:txBody>
      </p:sp>
      <p:sp>
        <p:nvSpPr>
          <p:cNvPr id="3" name="Content Placeholder 2"/>
          <p:cNvSpPr>
            <a:spLocks noGrp="1"/>
          </p:cNvSpPr>
          <p:nvPr>
            <p:ph idx="1"/>
          </p:nvPr>
        </p:nvSpPr>
        <p:spPr/>
        <p:txBody>
          <a:bodyPr/>
          <a:lstStyle/>
          <a:p>
            <a:pPr>
              <a:defRPr sz="1800"/>
            </a:pPr>
            <a:r>
              <a:t>Bestandsschutz bezieht sich auf den rechtmäßig genehmigten Zustand eines Bauwerks, nicht pauschal auf alles, was heute noch vorhanden ist oder technisch funktioniert. Voraussetzung ist, dass Nutzung und bauliche Substanz im Wesentlichen unverändert bleiben. Deshalb muss zunächst geklärt werden, welche Gebäudeteile rechtmäßig vorhanden sind und ob der geplante Anbau sie verändert. Ein Holzanbau kann drei Bereiche betreffen: unverändert gebliebenen Bestand, veränderte oder angeschlossene Bestandsteile und das vollständig neue Bauteil. Diese Bereiche sollten bereits in der ersten Planungsphase getrennt dargestellt werden. Das verhindert, dass 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zentrale Frage: Bleibt der Altbau unverändert?</a:t>
            </a:r>
          </a:p>
        </p:txBody>
      </p:sp>
      <p:sp>
        <p:nvSpPr>
          <p:cNvPr id="3" name="Content Placeholder 2"/>
          <p:cNvSpPr>
            <a:spLocks noGrp="1"/>
          </p:cNvSpPr>
          <p:nvPr>
            <p:ph idx="1"/>
          </p:nvPr>
        </p:nvSpPr>
        <p:spPr/>
        <p:txBody>
          <a:bodyPr/>
          <a:lstStyle/>
          <a:p>
            <a:pPr>
              <a:defRPr sz="1800"/>
            </a:pPr>
            <a:r>
              <a:t>r Bestandsschutz unbemerkt auf den Anbau übertragen wird. Einen praxisnahen Überblick zu Bestandsschutz und Anbauten bietet der Beitrag Bestandsschutz und Anbau auf holzanbauberlin.de.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unverändertem Bestand weitergilt</a:t>
            </a:r>
          </a:p>
        </p:txBody>
      </p:sp>
      <p:sp>
        <p:nvSpPr>
          <p:cNvPr id="3" name="Content Placeholder 2"/>
          <p:cNvSpPr>
            <a:spLocks noGrp="1"/>
          </p:cNvSpPr>
          <p:nvPr>
            <p:ph idx="1"/>
          </p:nvPr>
        </p:nvSpPr>
        <p:spPr/>
        <p:txBody>
          <a:bodyPr/>
          <a:lstStyle/>
          <a:p>
            <a:pPr>
              <a:defRPr sz="1800"/>
            </a:pPr>
            <a:r>
              <a:t>Bleiben rechtmäßig vorhandene Bauteile durch den Anbau unverändert, können sie ihren Bestandsschutz behalten. Wichtig ist dabei nicht nur die sichtbare Substanz, sondern auch die tatsächliche Nutzung: Eine wesentliche Änderung kann die Ausgangslage verschieben. Für die Planung hilft es, den vorhandenen Zustand eindeutig abzugrenzen. Zu jedem betroffenen Bauteil sollten der Bestand, die geplante Veränderung und die verbleibende Bestandsschutzfrage nachvollziehbar dokumentiert werden. So wird sichtbar, welche Entscheidungen sich ausschließlich auf den Altbau beziehen und welche Anforderungen für den neuen Holzanbau oder seine Anbindung gelten.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unverändertem Bestand weitergilt</a:t>
            </a:r>
          </a:p>
        </p:txBody>
      </p:sp>
      <p:sp>
        <p:nvSpPr>
          <p:cNvPr id="3" name="Content Placeholder 2"/>
          <p:cNvSpPr>
            <a:spLocks noGrp="1"/>
          </p:cNvSpPr>
          <p:nvPr>
            <p:ph idx="1"/>
          </p:nvPr>
        </p:nvSpPr>
        <p:spPr/>
        <p:txBody>
          <a:bodyPr/>
          <a:lstStyle/>
          <a:p>
            <a:pPr>
              <a:defRPr sz="1800"/>
            </a:pPr>
            <a:r>
              <a:t>Diese Trennung bildet die Grundlage für eine belastbare Beratung und für die spätere Auswahl des passenden Verfahrens.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Anschlüsse und Öffnungen gesondert geprüft werden</a:t>
            </a:r>
          </a:p>
        </p:txBody>
      </p:sp>
      <p:sp>
        <p:nvSpPr>
          <p:cNvPr id="3" name="Content Placeholder 2"/>
          <p:cNvSpPr>
            <a:spLocks noGrp="1"/>
          </p:cNvSpPr>
          <p:nvPr>
            <p:ph idx="1"/>
          </p:nvPr>
        </p:nvSpPr>
        <p:spPr/>
        <p:txBody>
          <a:bodyPr/>
          <a:lstStyle/>
          <a:p>
            <a:pPr>
              <a:defRPr sz="1800"/>
            </a:pPr>
            <a:r>
              <a:t>Berührt der Holzanbau den Altbau durch eine Wandöffnung, einen Anschluss an Decke oder Dach oder neue Leitungswege, reicht es nicht, auf den unveränderten Gebäudebestand zu verweisen. Die betroffenen Bereiche werden regelmäßig nach den heutigen materiellen Anforderungen mitbewertet. Maßgeblich ist dabei der konkrete Eingriff, nicht eine pauschale Bewertung des gesamten Gebäudes. Für jede Schnittstelle sollte deshalb dokumentiert werden, wie der neue Holzanbau an das bestehende Bauwerk angebunden wird und welche Bauteile dafür verändert werden. Besonders hilfreich ist eine grafische oder tabellarische Darstellung: getrennt nach Bestand, Eingri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Anschlüsse und Öffnungen gesondert geprüft werden</a:t>
            </a:r>
          </a:p>
        </p:txBody>
      </p:sp>
      <p:sp>
        <p:nvSpPr>
          <p:cNvPr id="3" name="Content Placeholder 2"/>
          <p:cNvSpPr>
            <a:spLocks noGrp="1"/>
          </p:cNvSpPr>
          <p:nvPr>
            <p:ph idx="1"/>
          </p:nvPr>
        </p:nvSpPr>
        <p:spPr/>
        <p:txBody>
          <a:bodyPr/>
          <a:lstStyle/>
          <a:p>
            <a:pPr>
              <a:defRPr sz="1800"/>
            </a:pPr>
            <a:r>
              <a:t>ff und Neubauteil. So lassen sich später die erforderlichen Nachweise eindeutig zuordnen und offene Fragen frühzeitig erkennen.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neue Holzanbau wird eigenständig beurteilt</a:t>
            </a:r>
          </a:p>
        </p:txBody>
      </p:sp>
      <p:sp>
        <p:nvSpPr>
          <p:cNvPr id="3" name="Content Placeholder 2"/>
          <p:cNvSpPr>
            <a:spLocks noGrp="1"/>
          </p:cNvSpPr>
          <p:nvPr>
            <p:ph idx="1"/>
          </p:nvPr>
        </p:nvSpPr>
        <p:spPr/>
        <p:txBody>
          <a:bodyPr/>
          <a:lstStyle/>
          <a:p>
            <a:pPr>
              <a:defRPr sz="1800"/>
            </a:pPr>
            <a:r>
              <a:t>Unabhängig vom Bestandsschutz ist der Holzanbau selbst ein neues Vorhaben. Er muss auf seine planungsrechtliche Zulässigkeit auf dem Grundstück geprüft werden. Ebenso sind die Verfahrensart und technische Nachweise zu klären, etwa zu Standsicherheit, Brandschutz sowie Schall- und Erschütterungsschutz. Die Berliner Bauordnung wurde laut Quelle 2026 geändert und trat am 23. Juli 2026 in Kraft. Für die konkrete Einordnung ist deshalb entscheidend, welche Fassung im Zeitpunkt des jeweiligen Vorhabens maßgeblich ist. Auch Verfahrensfreiheit bedeutet nicht, dass keine materiellen Anforderungen einzuhalten wären. Wer die Verfahrenswahl und den Geneh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neue Holzanbau wird eigenständig beurteilt</a:t>
            </a:r>
          </a:p>
        </p:txBody>
      </p:sp>
      <p:sp>
        <p:nvSpPr>
          <p:cNvPr id="3" name="Content Placeholder 2"/>
          <p:cNvSpPr>
            <a:spLocks noGrp="1"/>
          </p:cNvSpPr>
          <p:nvPr>
            <p:ph idx="1"/>
          </p:nvPr>
        </p:nvSpPr>
        <p:spPr/>
        <p:txBody>
          <a:bodyPr/>
          <a:lstStyle/>
          <a:p>
            <a:pPr>
              <a:defRPr sz="1800"/>
            </a:pPr>
            <a:r>
              <a:t>migungsablauf weiter vertiefen möchte, findet im Genehmigungsratgeber für Holzanbauten in Berlin eine ergänzende Übersicht.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Frühe Abstimmung mit konkreten Angaben</a:t>
            </a:r>
          </a:p>
        </p:txBody>
      </p:sp>
      <p:sp>
        <p:nvSpPr>
          <p:cNvPr id="3" name="Content Placeholder 2"/>
          <p:cNvSpPr>
            <a:spLocks noGrp="1"/>
          </p:cNvSpPr>
          <p:nvPr>
            <p:ph idx="1"/>
          </p:nvPr>
        </p:nvSpPr>
        <p:spPr/>
        <p:txBody>
          <a:bodyPr/>
          <a:lstStyle/>
          <a:p>
            <a:pPr>
              <a:defRPr sz="1800"/>
            </a:pPr>
            <a:r>
              <a:t>Vor der Fixierung von Planung und Kosten kann eine Abstimmung mit dem zuständigen Stadtentwicklungsamt sinnvoll sein. Dafür sollte die Anfrage nicht allgemein bleiben, sondern Lage, Nutzung, Größe des geplanten Anbaus und die Anschlüsse an den Bestand konkret beschreiben. Sinnvoll ist außerdem eine vorbereitete Unterlage, die unveränderten Bestand, geplante Eingriffe und das neue Bauteil trennt. Offene Punkte lassen sich dann gezielt klären, bevor sie in detaillierte Baupläne einfließen. Das ersetzt keine individuelle rechtliche Prüfung, kann aber vermeiden, dass unterschiedliche Annahmen zur Genehmigungsfähigkeit die weitere Planung prägen.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Bestandsschutz des Altbaus und Holzanbau: was bleibt, was wird neu bewertet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