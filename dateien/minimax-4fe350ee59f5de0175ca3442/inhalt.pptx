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holzanbauberlin.blogspot.com/2026/10/brandschutz-beim-holzanbau-in-berlin.html" TargetMode="External"/><Relationship Id="rId3" Type="http://schemas.openxmlformats.org/officeDocument/2006/relationships/hyperlink" Target="https://holzundhaus.github.io/holzanbauberlin/dateien/minimax-4fe350ee59f5de0175ca3442/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Brandschutz beim Holzanbau in Berlin: Welche Nachweise zählen · Erklärende Präsentation</a:t>
            </a:r>
          </a:p>
        </p:txBody>
      </p:sp>
      <p:sp>
        <p:nvSpPr>
          <p:cNvPr id="3" name="Content Placeholder 2"/>
          <p:cNvSpPr>
            <a:spLocks noGrp="1"/>
          </p:cNvSpPr>
          <p:nvPr>
            <p:ph idx="1"/>
          </p:nvPr>
        </p:nvSpPr>
        <p:spPr/>
        <p:txBody>
          <a:bodyPr/>
          <a:lstStyle/>
          <a:p>
            <a:r>
              <a:t>Überblick: Holzbau und Brandschutz schließen sich nicht aus. Für einen Anbau in Berlin entscheidet nicht das verwendete Material allein, sondern ob das geplante Bauteil die im konkreten Verfahren verlangten Schutzziele erfüllt. Besonders wichtig ist, Brandschutz, Tragwerk und Anbindung an den Bestand früh zusammenzudenken. Der folgende Leitfaden ordnet die regelmäßig relevanten Nachweise und zeigt, welche Angaben bei der Planung vorbereitet werden sollten.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Warum die Bauweise allein keine Zulässigkeit begründet</a:t>
            </a:r>
          </a:p>
        </p:txBody>
      </p:sp>
      <p:sp>
        <p:nvSpPr>
          <p:cNvPr id="3" name="Content Placeholder 2"/>
          <p:cNvSpPr>
            <a:spLocks noGrp="1"/>
          </p:cNvSpPr>
          <p:nvPr>
            <p:ph idx="1"/>
          </p:nvPr>
        </p:nvSpPr>
        <p:spPr/>
        <p:txBody>
          <a:bodyPr/>
          <a:lstStyle/>
          <a:p>
            <a:pPr>
              <a:defRPr sz="1800"/>
            </a:pPr>
            <a:r>
              <a:t>Holz ist ein brennbarer Baustoff, doch das Brandschutzrisiko wird nicht allein durch die Bauweise bestimmt. Entscheidend ist das Zusammenspiel von Konstruktion, Bekleidung, Dämmung und weiteren Bauteilen. Die Berliner Bauordnung und die im Genehmigungsverfahren verlangten Unterlagen sind maßgebliche Grundlage für die Anforderungen an das Vorhaben. Größere oder komplexere Vorhaben können unterschiedliche Nachweise und Planungsleistungen erfordern. Pauschale Angaben zu zulässigen Anbaugrößen oder zum vereinfachten Verfahren reichen daher nicht aus. Wer einen möglichst reibungslosen Ablauf vorbereiten will, sollte Nutzung, Dimensionen, Lage und </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Warum die Bauweise allein keine Zulässigkeit begründet</a:t>
            </a:r>
          </a:p>
        </p:txBody>
      </p:sp>
      <p:sp>
        <p:nvSpPr>
          <p:cNvPr id="3" name="Content Placeholder 2"/>
          <p:cNvSpPr>
            <a:spLocks noGrp="1"/>
          </p:cNvSpPr>
          <p:nvPr>
            <p:ph idx="1"/>
          </p:nvPr>
        </p:nvSpPr>
        <p:spPr/>
        <p:txBody>
          <a:bodyPr/>
          <a:lstStyle/>
          <a:p>
            <a:pPr>
              <a:defRPr sz="1800"/>
            </a:pPr>
            <a:r>
              <a:t>Bestand zunächst vollständig erfassen und anschließend mit der zuständigen Bauaufsichtsbehörde klären, welche Unterlagen im konkreten Fall verlangt werden.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Welche brandschutztechnischen Unterlagen regelmäßig vorkommen</a:t>
            </a:r>
          </a:p>
        </p:txBody>
      </p:sp>
      <p:sp>
        <p:nvSpPr>
          <p:cNvPr id="3" name="Content Placeholder 2"/>
          <p:cNvSpPr>
            <a:spLocks noGrp="1"/>
          </p:cNvSpPr>
          <p:nvPr>
            <p:ph idx="1"/>
          </p:nvPr>
        </p:nvSpPr>
        <p:spPr/>
        <p:txBody>
          <a:bodyPr/>
          <a:lstStyle/>
          <a:p>
            <a:pPr>
              <a:defRPr sz="1800"/>
            </a:pPr>
            <a:r>
              <a:t>Die Berliner Unterlagenliste nennt erforderliche Nachweise, etwa zum Brandschutz sowie zu Schall- und Erschütterungsschutz, ausdrücklich als prüffähige Bauvorlage. Je nach Vorhaben können dazu ein Brandschutznachweis oder ein Brandschutzkonzept, Angaben zu Bekleidungen und Dämmstoffen sowie Erläuterungen zu Öffnungen in bestehenden Außenwänden gehören. Auch die Anbindung des Anbaus an den Bestand, etwa an Wandanschlüssen, Durchdringungen oder im Bereich von Hausanschlussräumen, ist brandschutzrelevant. Bei bestimmten Vorhaben werden zusätzlich Aussagen zu Rettungswegen, Abständen zur Nachbarbebauung und zur Zugänglichkeit verlangt. Welche Unt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Welche brandschutztechnischen Unterlagen regelmäßig vorkommen</a:t>
            </a:r>
          </a:p>
        </p:txBody>
      </p:sp>
      <p:sp>
        <p:nvSpPr>
          <p:cNvPr id="3" name="Content Placeholder 2"/>
          <p:cNvSpPr>
            <a:spLocks noGrp="1"/>
          </p:cNvSpPr>
          <p:nvPr>
            <p:ph idx="1"/>
          </p:nvPr>
        </p:nvSpPr>
        <p:spPr/>
        <p:txBody>
          <a:bodyPr/>
          <a:lstStyle/>
          <a:p>
            <a:pPr>
              <a:defRPr sz="1800"/>
            </a:pPr>
            <a:r>
              <a:t>erlagen tatsächlich erforderlich sind, hängt vom Einzelfall ab. Einen ersten Überblick über die Einordnung in das Berliner Genehmigungsverfahren bietet der weiterführende Ratgeber zum vereinfachten Baugenehmigungsverfahren.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Feuerwiderstand und Brennbarkeit bei der Bauteilwahl</a:t>
            </a:r>
          </a:p>
        </p:txBody>
      </p:sp>
      <p:sp>
        <p:nvSpPr>
          <p:cNvPr id="3" name="Content Placeholder 2"/>
          <p:cNvSpPr>
            <a:spLocks noGrp="1"/>
          </p:cNvSpPr>
          <p:nvPr>
            <p:ph idx="1"/>
          </p:nvPr>
        </p:nvSpPr>
        <p:spPr/>
        <p:txBody>
          <a:bodyPr/>
          <a:lstStyle/>
          <a:p>
            <a:pPr>
              <a:defRPr sz="1800"/>
            </a:pPr>
            <a:r>
              <a:t>Bei der Festlegung von Wand, Decke und Dachaufbau ist zunächst zu klären, welche Anforderungen an Feuerwiderstand und Brennbarkeit gestellt werden. Das kann mehr bedeuten als eine pauschale Einstufung des Baustoffs als nichtbrennbar oder schwerentflammbar. Je nach Gebäudeklasse, Nutzung und Lage kann eine feuerwiderstandsfähige Ausbildung erforderlich sein. Erst mit dieser Vorgabe lässt sich sinnvoll entscheiden, ob ein Holzrahmen-, Holzmassiv- oder Hybridaufbau geeignet ist und welche Bekleidungen, Dämmstoffe oder Brandschutzbeschichtungen benötigt werden. Produktdaten und Verwendungsnachweise sollten deshalb zum selben Planungsstand passen </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Feuerwiderstand und Brennbarkeit bei der Bauteilwahl</a:t>
            </a:r>
          </a:p>
        </p:txBody>
      </p:sp>
      <p:sp>
        <p:nvSpPr>
          <p:cNvPr id="3" name="Content Placeholder 2"/>
          <p:cNvSpPr>
            <a:spLocks noGrp="1"/>
          </p:cNvSpPr>
          <p:nvPr>
            <p:ph idx="1"/>
          </p:nvPr>
        </p:nvSpPr>
        <p:spPr/>
        <p:txBody>
          <a:bodyPr/>
          <a:lstStyle/>
          <a:p>
            <a:pPr>
              <a:defRPr sz="1800"/>
            </a:pPr>
            <a:r>
              <a:t>wie die übrigen Bauvorlagen. Die Eignung eines Bauprodukts ersetzt nicht die brandschutztechnische Beurteilung des gesamten Bauteilaufbaus und seiner Einbindung in das Gebäude.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Brandschutz und Tragwerk gemeinsam planen</a:t>
            </a:r>
          </a:p>
        </p:txBody>
      </p:sp>
      <p:sp>
        <p:nvSpPr>
          <p:cNvPr id="3" name="Content Placeholder 2"/>
          <p:cNvSpPr>
            <a:spLocks noGrp="1"/>
          </p:cNvSpPr>
          <p:nvPr>
            <p:ph idx="1"/>
          </p:nvPr>
        </p:nvSpPr>
        <p:spPr/>
        <p:txBody>
          <a:bodyPr/>
          <a:lstStyle/>
          <a:p>
            <a:pPr>
              <a:defRPr sz="1800"/>
            </a:pPr>
            <a:r>
              <a:t>Brandschutz und Tragwerksplanung greifen an mehreren Stellen ineinander. Eine Öffnung in einer bestehenden Außenwand kann die Statik betreffen, während der neue Bauteilanschluss zugleich brandschutztechnisch nachzuweisen ist. Auch Wand-, Dach- und Sockelanschlüsse müssen die Anforderungen des jeweiligen Aufbaus erfüllen. Deshalb sollten Standsicherheitsnachweis, Erklärung der Tragwerksplanung und Brandschutzunterlagen parallel entstehen und vor der Einreichung auf denselben Stand gebracht werden. So lassen sich Widersprüche bei Aufbauten, Materialien und Dimensionen vermeiden. Für die technische Verbindung von Anbau und Bestand enthält der Be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Brandschutz und Tragwerk gemeinsam planen</a:t>
            </a:r>
          </a:p>
        </p:txBody>
      </p:sp>
      <p:sp>
        <p:nvSpPr>
          <p:cNvPr id="3" name="Content Placeholder 2"/>
          <p:cNvSpPr>
            <a:spLocks noGrp="1"/>
          </p:cNvSpPr>
          <p:nvPr>
            <p:ph idx="1"/>
          </p:nvPr>
        </p:nvSpPr>
        <p:spPr/>
        <p:txBody>
          <a:bodyPr/>
          <a:lstStyle/>
          <a:p>
            <a:pPr>
              <a:defRPr sz="1800"/>
            </a:pPr>
            <a:r>
              <a:t>itrag zu Anschlussdetails von Wand, Dach und Sockel ergänzende Hinweise.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Erklärung, Konzept oder Einzelfallentscheidung</a:t>
            </a:r>
          </a:p>
        </p:txBody>
      </p:sp>
      <p:sp>
        <p:nvSpPr>
          <p:cNvPr id="3" name="Content Placeholder 2"/>
          <p:cNvSpPr>
            <a:spLocks noGrp="1"/>
          </p:cNvSpPr>
          <p:nvPr>
            <p:ph idx="1"/>
          </p:nvPr>
        </p:nvSpPr>
        <p:spPr/>
        <p:txBody>
          <a:bodyPr/>
          <a:lstStyle/>
          <a:p>
            <a:pPr>
              <a:defRPr sz="1800"/>
            </a:pPr>
            <a:r>
              <a:t>Die Form des Brandschutznachweises ist nicht für jedes Vorhaben gleich geregelt. Bei einem einfacheren, unkritischen Vorhaben kann eine Erklärung im Rahmen der Bauvorlagen ausreichen. Ein Brandschutzkonzept ist eher bei größeren oder besonderen Vorhaben, außergewöhnlichen Nutzungen, dichter Nachbarschaft oder vorhandenem Bestandsschutz zu erwarten. Maßgeblich bleibt die Anforderung des konkreten Verfahrens. Wer die Bauvorlagen erstellt oder dafür eine bauvorlageberechtigte Person beauftragt, sollte deshalb die brandschutztechnische Betreuung ausdrücklich klären. Eine unverbindliche Skizze oder eine technische Zeichnung eines Bauprodukts genüg</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Erklärung, Konzept oder Einzelfallentscheidung</a:t>
            </a:r>
          </a:p>
        </p:txBody>
      </p:sp>
      <p:sp>
        <p:nvSpPr>
          <p:cNvPr id="3" name="Content Placeholder 2"/>
          <p:cNvSpPr>
            <a:spLocks noGrp="1"/>
          </p:cNvSpPr>
          <p:nvPr>
            <p:ph idx="1"/>
          </p:nvPr>
        </p:nvSpPr>
        <p:spPr/>
        <p:txBody>
          <a:bodyPr/>
          <a:lstStyle/>
          <a:p>
            <a:pPr>
              <a:defRPr sz="1800"/>
            </a:pPr>
            <a:r>
              <a:t>t nicht als Ersatz für die geforderten Nachweise. Besonders sorgfältig sollte zudem die Abstimmung zwischen Haustür, Brandschutztüren und tragenden beziehungsweise raumabschließenden Bauteilen erfolgen.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Brandschutz beim Holzanbau in Berlin: Welche Nachweise zählen</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