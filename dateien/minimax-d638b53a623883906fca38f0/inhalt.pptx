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anbauberlin.blogspot.com/2026/10/schallschutz-im-holzanbau-anforderungen.html" TargetMode="External"/><Relationship Id="rId3" Type="http://schemas.openxmlformats.org/officeDocument/2006/relationships/hyperlink" Target="https://holzundhaus.github.io/holzanbauberlin/dateien/minimax-d638b53a623883906fca38f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im Holzanbau: Anforderungen, Nachweise und Konstruktion · Erklärende Präsentation</a:t>
            </a:r>
          </a:p>
        </p:txBody>
      </p:sp>
      <p:sp>
        <p:nvSpPr>
          <p:cNvPr id="3" name="Content Placeholder 2"/>
          <p:cNvSpPr>
            <a:spLocks noGrp="1"/>
          </p:cNvSpPr>
          <p:nvPr>
            <p:ph idx="1"/>
          </p:nvPr>
        </p:nvSpPr>
        <p:spPr/>
        <p:txBody>
          <a:bodyPr/>
          <a:lstStyle/>
          <a:p>
            <a:r>
              <a:t>Überblick: Beim Holzanbau in Berlin wird der Schallschutz oft erst spät zum Planungsthema. dabei geht es nicht nur um Komfort, sondern je nach Vorhaben auch um erforderliche bauphysikalische Nachweise. Besonders wichtig sind die Nutzung der Räume, die vorhandenen Wand- und Deckenaufbauten sowie die Anschlüsse zwischen Anbau und Bestand. Der folgende Leitfaden strukturiert die wichtigsten Fragen für die eigene Vorbereitung.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Schallschutz eine eigene Planungsfrage ist</a:t>
            </a:r>
          </a:p>
        </p:txBody>
      </p:sp>
      <p:sp>
        <p:nvSpPr>
          <p:cNvPr id="3" name="Content Placeholder 2"/>
          <p:cNvSpPr>
            <a:spLocks noGrp="1"/>
          </p:cNvSpPr>
          <p:nvPr>
            <p:ph idx="1"/>
          </p:nvPr>
        </p:nvSpPr>
        <p:spPr/>
        <p:txBody>
          <a:bodyPr/>
          <a:lstStyle/>
          <a:p>
            <a:pPr>
              <a:defRPr sz="1800"/>
            </a:pPr>
            <a:r>
              <a:t>Ein Anbau verändert die akustische Situation eines Gebäudes: Aus einem geschlossenen Bauteil entstehen neue Außen- und Trennwände, aus einer bestehenden Decke kann eine trennende Decke zwischen Alt und Neu werden. Bei Wohn-, Schlaf- oder Arbeitsräumen sind die schalltechnischen Anforderungen daher Teil der zu prüfenden Unterlagen. Welche Werte im Einzelfall gelten, hängt vom konkreten Vorhaben ab und muss mit der zuständigen Bauaufsicht abgestimmt werden. Eine erste Checkliste umfasst die geplante Nutzung des Anbaus, die Nutzung direkt angrenzender Bestandsräume, vorhandene Wand- und Deckenaufbauten sowie alle vorgesehenen Steckdosen, Leitung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Schallschutz eine eigene Planungsfrage ist</a:t>
            </a:r>
          </a:p>
        </p:txBody>
      </p:sp>
      <p:sp>
        <p:nvSpPr>
          <p:cNvPr id="3" name="Content Placeholder 2"/>
          <p:cNvSpPr>
            <a:spLocks noGrp="1"/>
          </p:cNvSpPr>
          <p:nvPr>
            <p:ph idx="1"/>
          </p:nvPr>
        </p:nvSpPr>
        <p:spPr/>
        <p:txBody>
          <a:bodyPr/>
          <a:lstStyle/>
          <a:p>
            <a:pPr>
              <a:defRPr sz="1800"/>
            </a:pPr>
            <a:r>
              <a:t>en, Lüftungsöffnungen und Durchdringungen. Diese Informationen helfen, Schallfragen vor der Detailplanung zu klären, statt sie erst beim Zusammenstellen der Bauvorlagen zu entdecken.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Anforderung zum passenden Wandaufbau</a:t>
            </a:r>
          </a:p>
        </p:txBody>
      </p:sp>
      <p:sp>
        <p:nvSpPr>
          <p:cNvPr id="3" name="Content Placeholder 2"/>
          <p:cNvSpPr>
            <a:spLocks noGrp="1"/>
          </p:cNvSpPr>
          <p:nvPr>
            <p:ph idx="1"/>
          </p:nvPr>
        </p:nvSpPr>
        <p:spPr/>
        <p:txBody>
          <a:bodyPr/>
          <a:lstStyle/>
          <a:p>
            <a:pPr>
              <a:defRPr sz="1800"/>
            </a:pPr>
            <a:r>
              <a:t>Die Auswahl eines Wandaufbaus beginnt mit der Frage, welche Schalldämmung das neue Trennbauteil im Verhältnis zum Bestand leisten muss. Bei einem Anbau am Reihenhaus können zusätzlich die Bedingungen der Haustrennwand und des Nachbarschaftsverhältnisses berücksichtigt werden. Mehrlagige Beplankungen, getrennte Schalen, eine durchgehende Trennfuge und eine Dämmung im Hohlraum sind zentrale Bausteine. Wichtig ist die Kombination aus Masse, Federung und Entkopplung: Eine einzelne Maßnahme ersetzt nicht die Abstimmung des gesamten Aufbaus. Typische Schwachstellen entstehen dort, wo Installationen oder durchgehende Bauteile die Trennung überbrücke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Anforderung zum passenden Wandaufbau</a:t>
            </a:r>
          </a:p>
        </p:txBody>
      </p:sp>
      <p:sp>
        <p:nvSpPr>
          <p:cNvPr id="3" name="Content Placeholder 2"/>
          <p:cNvSpPr>
            <a:spLocks noGrp="1"/>
          </p:cNvSpPr>
          <p:nvPr>
            <p:ph idx="1"/>
          </p:nvPr>
        </p:nvSpPr>
        <p:spPr/>
        <p:txBody>
          <a:bodyPr/>
          <a:lstStyle/>
          <a:p>
            <a:pPr>
              <a:defRPr sz="1800"/>
            </a:pPr>
            <a:r>
              <a:t>n. Dazu gehören gegenüberliegende Steckdosen, über mehrere Räume laufende Kanäle, undichte Fugen am Übergang zum Bestand sowie durchgehende Schrauben oder Latten. Anschlussdetails sollten deshalb bereits in der Planung zeichnerisch benannt und mit dem Holzbauunternehmen auf Umsetzbarkeit abgestimmt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Decken, Trittschall und Anschlüsse im Bestand</a:t>
            </a:r>
          </a:p>
        </p:txBody>
      </p:sp>
      <p:sp>
        <p:nvSpPr>
          <p:cNvPr id="3" name="Content Placeholder 2"/>
          <p:cNvSpPr>
            <a:spLocks noGrp="1"/>
          </p:cNvSpPr>
          <p:nvPr>
            <p:ph idx="1"/>
          </p:nvPr>
        </p:nvSpPr>
        <p:spPr/>
        <p:txBody>
          <a:bodyPr/>
          <a:lstStyle/>
          <a:p>
            <a:pPr>
              <a:defRPr sz="1800"/>
            </a:pPr>
            <a:r>
              <a:t>Wird im Anbau eine Decke eingebaut, die später zwischen verschiedenen Nutzungsbereichen trennt, ist die Trittschalldämmung gesondert zu betrachten. Dafür kommen je nach Aufbau ein schwimmender oder trockener Estrich auf Trittschalldämmung, eine abgehängte Decke mit Dämmung im Federraum sowie eine Entkopplung zwischen Decke und Wand infrage. Der Anschluss an eine Bestandsdecke verlangt zusätzliche Sorgfalt: Unterschiedliche Höhen, Materialien und Aufbauten müssen aufeinander abgestimmt werden. Starr verbundene Bauteile und unklare Übergänge können die Wirkung des Deckenaufbaus einschränken. Für die Planung ist es daher hilfreich, den gewünscht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Decken, Trittschall und Anschlüsse im Bestand</a:t>
            </a:r>
          </a:p>
        </p:txBody>
      </p:sp>
      <p:sp>
        <p:nvSpPr>
          <p:cNvPr id="3" name="Content Placeholder 2"/>
          <p:cNvSpPr>
            <a:spLocks noGrp="1"/>
          </p:cNvSpPr>
          <p:nvPr>
            <p:ph idx="1"/>
          </p:nvPr>
        </p:nvSpPr>
        <p:spPr/>
        <p:txBody>
          <a:bodyPr/>
          <a:lstStyle/>
          <a:p>
            <a:pPr>
              <a:defRPr sz="1800"/>
            </a:pPr>
            <a:r>
              <a:t>en Aufbau mit Querschnitten zu beschreiben, Anschlussfugen zu berücksichtigen und festzuhalten, welche Bauteile nachträglich zu ergänzen sind. Die genaue Ausführung sollte mit Planung und ausführendem Unternehmen abgestimmt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Schallnachweis in die Bauvorlage integrieren</a:t>
            </a:r>
          </a:p>
        </p:txBody>
      </p:sp>
      <p:sp>
        <p:nvSpPr>
          <p:cNvPr id="3" name="Content Placeholder 2"/>
          <p:cNvSpPr>
            <a:spLocks noGrp="1"/>
          </p:cNvSpPr>
          <p:nvPr>
            <p:ph idx="1"/>
          </p:nvPr>
        </p:nvSpPr>
        <p:spPr/>
        <p:txBody>
          <a:bodyPr/>
          <a:lstStyle/>
          <a:p>
            <a:pPr>
              <a:defRPr sz="1800"/>
            </a:pPr>
            <a:r>
              <a:t>Der Schall- und Erschütterungsschutz gehört laut Hauptseite zu den erforderlichen Nachweisen, die zusammen mit Standsicherheitsnachweis, Baubeschreibung und weiteren prüffähigen Bauvorlagen auf denselben Planungsstand gebracht werden. Eine sinnvolle Reihenfolge lautet: zuerst Nutzung und Anforderungen klären, dann Wand- und Deckenaufbauten auswählen, anschließend Anschlussdetails bearbeiten und schließlich den rechnerischen Nachweis erstellen. Bei der Vorbereitung helfen Fragen zu vorhandenen Bestandszeichnungen, zur Nutzung angrenzender Räume, zu anspruchsberechtigten Bereichen wie Schlaf- oder Arbeitsräumen sowie zur Realisierbarkeit des 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Schallnachweis in die Bauvorlage integrieren</a:t>
            </a:r>
          </a:p>
        </p:txBody>
      </p:sp>
      <p:sp>
        <p:nvSpPr>
          <p:cNvPr id="3" name="Content Placeholder 2"/>
          <p:cNvSpPr>
            <a:spLocks noGrp="1"/>
          </p:cNvSpPr>
          <p:nvPr>
            <p:ph idx="1"/>
          </p:nvPr>
        </p:nvSpPr>
        <p:spPr/>
        <p:txBody>
          <a:bodyPr/>
          <a:lstStyle/>
          <a:p>
            <a:pPr>
              <a:defRPr sz="1800"/>
            </a:pPr>
            <a:r>
              <a:t>wählten Aufbaus. Mehr zum Zusammenspiel von Verfahren, Unterlagen und Reihenfolge bietet der weiterführende Genehmigungsratgeber. Für die vertiefende Orientierung zum Thema Schallschutz im Holzanbau eignet sich der Passende Beitrag mit dem ausführlichen Fachbeitrag.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Schallschutz im Holzanbau: Anforderungen, Nachweise und Konstruktion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