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anbauberlin/-/blob/28b0b550ba0a9cee3817e64dd0ce2eb0b71a5e0a/_posts/2026-10-23-bodenaufbau-geschossdecken-anschluss-holzanbau-berlin.md" TargetMode="External"/><Relationship Id="rId3" Type="http://schemas.openxmlformats.org/officeDocument/2006/relationships/hyperlink" Target="https://holzundhaus.github.io/holzanbauberlin/dateien/minimax-07ac5024d37c6ec7969735d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Bodenaufbau und Geschossdecken-Anschluss beim Holzanbau in Berlin · Erklärende Präsentation</a:t>
            </a:r>
          </a:p>
        </p:txBody>
      </p:sp>
      <p:sp>
        <p:nvSpPr>
          <p:cNvPr id="3" name="Content Placeholder 2"/>
          <p:cNvSpPr>
            <a:spLocks noGrp="1"/>
          </p:cNvSpPr>
          <p:nvPr>
            <p:ph idx="1"/>
          </p:nvPr>
        </p:nvSpPr>
        <p:spPr/>
        <p:txBody>
          <a:bodyPr/>
          <a:lstStyle/>
          <a:p>
            <a:r>
              <a:t>Überblick: Der Bodenaufbau und der Anschluss einer Geschossdecke bestimmen, ob ein Holzanbau dauerhaft nutzbar bleibt. Während Wände und Dach im Planungsgespräch oft zuerst behandelt werden, wirken sich Entscheidungen am Boden unmittelbar auf Wärmeschutz, Feuchteschutz, Schallschutz und die Verbindung zum Bestand aus. Dieser Beitrag richtet den Fokus auf die konkreten Schnittstellen zwischen Bodenplatte, Holzdecke und vorhandener Geschossdecke. Er ergänzt die Grundlagen zum Holzanbau in Berlin um eine nachvollziehbare Reihenfolge für Planung, Angebotsvergleich und Abstimmung mit dem Bestand. Der thematische Bezug besteht insbesondere zum Bode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Grundsituationen mit unterschiedlichen Anforderungen</a:t>
            </a:r>
          </a:p>
        </p:txBody>
      </p:sp>
      <p:sp>
        <p:nvSpPr>
          <p:cNvPr id="3" name="Content Placeholder 2"/>
          <p:cNvSpPr>
            <a:spLocks noGrp="1"/>
          </p:cNvSpPr>
          <p:nvPr>
            <p:ph idx="1"/>
          </p:nvPr>
        </p:nvSpPr>
        <p:spPr/>
        <p:txBody>
          <a:bodyPr/>
          <a:lstStyle/>
          <a:p>
            <a:pPr>
              <a:defRPr sz="1800"/>
            </a:pPr>
            <a:r>
              <a:t>Für die Planung ist zunächst entscheidend, ob der Anbau auf einer eigenen Bodenplatte steht oder als Geschoss an eine bestehende Decke angeschlossen wird. Im ersten Fall bildet eine Holzbodenplatte den Abschluss des neuen Anbaus. Im zweiten Fall muss eine neue Holzdecke auf das vorhandene Deckensystem treffen. Diese beiden Situationen verlangen unterschiedliche Entscheidungen bei Fundament, Lastabtrag und Detailplanung.</a:t>
            </a:r>
          </a:p>
          <a:p>
            <a:pPr>
              <a:defRPr sz="1800"/>
            </a:pPr>
          </a:p>
          <a:p>
            <a:pPr>
              <a:defRPr sz="1800"/>
            </a:pPr>
            <a:r>
              <a:t>Auch die Nutzung verändert die Anforderungen. Ein beheizter Wohnraum benötigt einen anderen Bodenaufbau als ein unbeheizter Nebenraum. Wärmeschutz, Feuchteschutz und Trittschalldämmung sollten daher nicht nachträglich ergänzt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Grundsituationen mit unterschiedlichen Anforderungen</a:t>
            </a:r>
          </a:p>
        </p:txBody>
      </p:sp>
      <p:sp>
        <p:nvSpPr>
          <p:cNvPr id="3" name="Content Placeholder 2"/>
          <p:cNvSpPr>
            <a:spLocks noGrp="1"/>
          </p:cNvSpPr>
          <p:nvPr>
            <p:ph idx="1"/>
          </p:nvPr>
        </p:nvSpPr>
        <p:spPr/>
        <p:txBody>
          <a:bodyPr/>
          <a:lstStyle/>
          <a:p>
            <a:pPr>
              <a:defRPr sz="1800"/>
            </a:pPr>
            <a:r>
              <a:t> werden, sondern von Anfang an mit der konstruktiven Lösung abgestimmt werden. Bei einem Geschossanbau kommt zusätzlich das Höhenniveau des Bestands hinzu.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Holzbodenplatte und Holzdecke unterscheiden</a:t>
            </a:r>
          </a:p>
        </p:txBody>
      </p:sp>
      <p:sp>
        <p:nvSpPr>
          <p:cNvPr id="3" name="Content Placeholder 2"/>
          <p:cNvSpPr>
            <a:spLocks noGrp="1"/>
          </p:cNvSpPr>
          <p:nvPr>
            <p:ph idx="1"/>
          </p:nvPr>
        </p:nvSpPr>
        <p:spPr/>
        <p:txBody>
          <a:bodyPr/>
          <a:lstStyle/>
          <a:p>
            <a:pPr>
              <a:defRPr sz="1800"/>
            </a:pPr>
            <a:r>
              <a:t>Eine Holzbodenplatte auf neuem Fundament kann auf tragenden Holzbalken oder Brettsperrholzelementen aufgebaut werden. Zwischen den tragenden Elementen liegt eine Dämmung; eine Sauberkeitsschicht oder eine Punktfundamentreihe bildet den unteren Bereich. Diffusionsoffene oder diffusionsgeschlossene Schichten können je nach konstruktiver Situation den Aufbau abschließen. Die passende Lösung richtet sich insbesondere danach, ob der Anbau ebenerdig auf einem eigenen Fundament gegründet wird.</a:t>
            </a:r>
          </a:p>
          <a:p>
            <a:pPr>
              <a:defRPr sz="1800"/>
            </a:pPr>
          </a:p>
          <a:p>
            <a:pPr>
              <a:defRPr sz="1800"/>
            </a:pPr>
            <a:r>
              <a:t>Bei einem Geschoss wird häufig eine Holzbalkendecke eingesetzt. Sichtbalken, eine Balkenlage mit Einschub oder eine Vollholzdecke aus Brettschichtholz sind 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Holzbodenplatte und Holzdecke unterscheiden</a:t>
            </a:r>
          </a:p>
        </p:txBody>
      </p:sp>
      <p:sp>
        <p:nvSpPr>
          <p:cNvPr id="3" name="Content Placeholder 2"/>
          <p:cNvSpPr>
            <a:spLocks noGrp="1"/>
          </p:cNvSpPr>
          <p:nvPr>
            <p:ph idx="1"/>
          </p:nvPr>
        </p:nvSpPr>
        <p:spPr/>
        <p:txBody>
          <a:bodyPr/>
          <a:lstStyle/>
          <a:p>
            <a:pPr>
              <a:defRPr sz="1800"/>
            </a:pPr>
            <a:r>
              <a:t>ögliche Formen. Bodenbelag, Trittschalldämmung, Estrich oder Trockenestrich gehören zum späteren Ausbau und sollten in Angeboten erkennbar abgegrenzt sein. Gegenüber massiven Alternativen kann eine Holzkonstruktion leichter und schneller montiert werden. Das ist jedoch kein pauschaler Vorteil: Bei particularer Grundwassergefährdung oder sehr hohen Anforderungen an die Robustheit kann eine massive Bodenplatte die technisch bessere Wahl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Anschluss an den Bestand</a:t>
            </a:r>
          </a:p>
        </p:txBody>
      </p:sp>
      <p:sp>
        <p:nvSpPr>
          <p:cNvPr id="3" name="Content Placeholder 2"/>
          <p:cNvSpPr>
            <a:spLocks noGrp="1"/>
          </p:cNvSpPr>
          <p:nvPr>
            <p:ph idx="1"/>
          </p:nvPr>
        </p:nvSpPr>
        <p:spPr/>
        <p:txBody>
          <a:bodyPr/>
          <a:lstStyle/>
          <a:p>
            <a:pPr>
              <a:defRPr sz="1800"/>
            </a:pPr>
            <a:r>
              <a:t>Der Anschluss an eine bestehende Holzbalkendecke verlangt eine genaue Aufnahme von Balkenlage, Auflager und Höhenniveau. Zu prüfen sind neue Auflager im Bestandsmauerwerk oder auf einer Schwelle, geeignete Verbindungsmittel sowie die Dämmebene an der Anschlussfuge. Wenn der Anbau beheizt genutzt wird, gehören außerdem Schwingungsverhalten und Trittschall in die Planung.</a:t>
            </a:r>
          </a:p>
          <a:p>
            <a:pPr>
              <a:defRPr sz="1800"/>
            </a:pPr>
          </a:p>
          <a:p>
            <a:pPr>
              <a:defRPr sz="1800"/>
            </a:pPr>
            <a:r>
              <a:t>Bei einer massiven Bestandsdecke kommen Auflagerbalken, Anschlussschienen oder ein separates Auflager infrage. Die Lastübergabe muss eindeutig geplant werden. Ebenso wichtig ist der Übergang zwischen mineralischer und holzbasischer Konstruktion, insbesondere hinsichtlich Luft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Anschluss an den Bestand</a:t>
            </a:r>
          </a:p>
        </p:txBody>
      </p:sp>
      <p:sp>
        <p:nvSpPr>
          <p:cNvPr id="3" name="Content Placeholder 2"/>
          <p:cNvSpPr>
            <a:spLocks noGrp="1"/>
          </p:cNvSpPr>
          <p:nvPr>
            <p:ph idx="1"/>
          </p:nvPr>
        </p:nvSpPr>
        <p:spPr/>
        <p:txBody>
          <a:bodyPr/>
          <a:lstStyle/>
          <a:p>
            <a:pPr>
              <a:defRPr sz="1800"/>
            </a:pPr>
            <a:r>
              <a:t>dichtheit und Dampfdiffusion. Ein Höhenversatz, etwa beim Übergang von einer Terrasse in das Gartenniveau, berührt zusätzlich Bodenplatte, Tür und Decke. Die Planung sollte deshalb nicht beim Bodenbelag enden, sondern die gesamte Aufbauhöhe und den Übergang zum Bestand umfassen.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Planungsreihenfolge für Boden und Decke</a:t>
            </a:r>
          </a:p>
        </p:txBody>
      </p:sp>
      <p:sp>
        <p:nvSpPr>
          <p:cNvPr id="3" name="Content Placeholder 2"/>
          <p:cNvSpPr>
            <a:spLocks noGrp="1"/>
          </p:cNvSpPr>
          <p:nvPr>
            <p:ph idx="1"/>
          </p:nvPr>
        </p:nvSpPr>
        <p:spPr/>
        <p:txBody>
          <a:bodyPr/>
          <a:lstStyle/>
          <a:p>
            <a:pPr>
              <a:defRPr sz="1800"/>
            </a:pPr>
            <a:r>
              <a:t>Eine belastbare Planung beginnt mit der Nutzung und den daraus folgenden Anforderungen. Danach wird der Bestand aufgenommen: Deckenart, Auflager, Höhenniveau und erkennbare Schäden gehören dokumentiert. Anschließend werden Lastabtrag, Höhenlage und Anschlussweg geklärt. Erst danach lassen sich Wärme-, Feuchte- und Schallschutz aufeinander abstimmen.</a:t>
            </a:r>
          </a:p>
          <a:p>
            <a:pPr>
              <a:defRPr sz="1800"/>
            </a:pPr>
          </a:p>
          <a:p>
            <a:pPr>
              <a:defRPr sz="1800"/>
            </a:pPr>
            <a:r>
              <a:t>Für die Angebotsbewertung hilft es, den Boden nicht als Pauschalposten zu behandeln. Rückfragen sollten klären, welcher Bodenaufbau mit welchen Schichten vorgesehen ist, wie die neue Decke an die Bestandsdecke anschließt und ob Anpassungen an Türen, Stemmarbeiten oder neue Auflager enthalten sind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Planungsreihenfolge für Boden und Decke</a:t>
            </a:r>
          </a:p>
        </p:txBody>
      </p:sp>
      <p:sp>
        <p:nvSpPr>
          <p:cNvPr id="3" name="Content Placeholder 2"/>
          <p:cNvSpPr>
            <a:spLocks noGrp="1"/>
          </p:cNvSpPr>
          <p:nvPr>
            <p:ph idx="1"/>
          </p:nvPr>
        </p:nvSpPr>
        <p:spPr/>
        <p:txBody>
          <a:bodyPr/>
          <a:lstStyle/>
          <a:p>
            <a:pPr>
              <a:defRPr sz="1800"/>
            </a:pPr>
            <a:r>
              <a:t>. Auch der Umgang mit nicht sichtbaren Bestandsabweichungen sollte festgelegt werden. Positionen für Trittschalldämmung, Estrich oder Trockenestrich gehören einzeln ausgewiesen. So werden Angebote vergleichbar und spätere Ergänzungen nachvollziehbar.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Anfrage wichtig ist</a:t>
            </a:r>
          </a:p>
        </p:txBody>
      </p:sp>
      <p:sp>
        <p:nvSpPr>
          <p:cNvPr id="3" name="Content Placeholder 2"/>
          <p:cNvSpPr>
            <a:spLocks noGrp="1"/>
          </p:cNvSpPr>
          <p:nvPr>
            <p:ph idx="1"/>
          </p:nvPr>
        </p:nvSpPr>
        <p:spPr/>
        <p:txBody>
          <a:bodyPr/>
          <a:lstStyle/>
          <a:p>
            <a:pPr>
              <a:defRPr sz="1800"/>
            </a:pPr>
            <a:r>
              <a:t>Für eine erste fachliche Einordnung kann eine Anfrage über das Kontaktformular bereits die wichtigsten Rahmenbedingungen nennen. Dazu gehören die geplante Nutzung, die vorhandene Deckenart, das Höhenniveau des Anbaus sowie die Frage, ob eine eigene Bodenplatte oder ein Anschluss an die Geschossdecke vorgesehen ist. Auch Unsicherheiten im Bestand und bereits bekannte Anforderungen an Wärme- oder Schallschutz helfen bei der Einordnung. So kann der Bodenaufbau und Geschossdecken-Anschluss beim Holzanbau in Berlin als eigenständiges Thema in die weitere Planung einfließen, ohne dass eine einheitliche Lösung unterstellt wird, die erst nach der Bes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Anfrage wichtig ist</a:t>
            </a:r>
          </a:p>
        </p:txBody>
      </p:sp>
      <p:sp>
        <p:nvSpPr>
          <p:cNvPr id="3" name="Content Placeholder 2"/>
          <p:cNvSpPr>
            <a:spLocks noGrp="1"/>
          </p:cNvSpPr>
          <p:nvPr>
            <p:ph idx="1"/>
          </p:nvPr>
        </p:nvSpPr>
        <p:spPr/>
        <p:txBody>
          <a:bodyPr/>
          <a:lstStyle/>
          <a:p>
            <a:pPr>
              <a:defRPr sz="1800"/>
            </a:pPr>
            <a:r>
              <a:t>tandsaufnahme festgelegt werden kann.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Bodenaufbau und Geschossdecken-Anschluss beim Holzanbau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