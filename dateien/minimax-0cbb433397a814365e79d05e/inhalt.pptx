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anbauberlin/barrierefreier-holzanbau-planung-ausstattung/" TargetMode="External"/><Relationship Id="rId3" Type="http://schemas.openxmlformats.org/officeDocument/2006/relationships/hyperlink" Target="https://holzundhaus.github.io/holzanbauberlin/dateien/minimax-0cbb433397a814365e79d0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Barrierefreier Holzanbau: Was bei Planung und Ausstattung zählt · Erklärende Präsentation</a:t>
            </a:r>
          </a:p>
        </p:txBody>
      </p:sp>
      <p:sp>
        <p:nvSpPr>
          <p:cNvPr id="3" name="Content Placeholder 2"/>
          <p:cNvSpPr>
            <a:spLocks noGrp="1"/>
          </p:cNvSpPr>
          <p:nvPr>
            <p:ph idx="1"/>
          </p:nvPr>
        </p:nvSpPr>
        <p:spPr/>
        <p:txBody>
          <a:bodyPr/>
          <a:lstStyle/>
          <a:p>
            <a:r>
              <a:t>Überblick: Ein Holzanbau kann bestehende Gebäude barrierefreier machen, wenn Maße, Nutzung und Anschlüsse früh zusammengedacht werden. Der Beitrag Barrierefreier Holzanbau: Was bei Planung und Ausstattung zählt zeigt, worauf es bei Türbreiten, Bewegungsflächen, Sanitär und Gebäudeanschluss ankommt. Der folgende Leitfaden übersetzt diese Aspekte in konkrete Prüffragen für die eigene Planung und Angebotsvorbereitung.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Nutzung soll der Anbau künftig ermöglichen?</a:t>
            </a:r>
          </a:p>
        </p:txBody>
      </p:sp>
      <p:sp>
        <p:nvSpPr>
          <p:cNvPr id="3" name="Content Placeholder 2"/>
          <p:cNvSpPr>
            <a:spLocks noGrp="1"/>
          </p:cNvSpPr>
          <p:nvPr>
            <p:ph idx="1"/>
          </p:nvPr>
        </p:nvSpPr>
        <p:spPr/>
        <p:txBody>
          <a:bodyPr/>
          <a:lstStyle/>
          <a:p>
            <a:pPr>
              <a:defRPr sz="1800"/>
            </a:pPr>
            <a:r>
              <a:t>„Barrierefrei“ bezeichnet nicht allein einen rollstuhlgerechten Zugang. Möglich sind auch ein Mehrgenerationenzimmer, eine Pflegesituation oder ein barrierefreies Bad. Für die Planung sollte deshalb feststehen, wer den Anbau nutzen wird, welche Wege regelmäßig begangen werden und welches Ausstattungsniveau gewünscht ist. Erst mit dieser Beschreibung lassen sich Flächen, Maßangaben und Leistungen sinnvoll zuordnen. Die Ausgangsdaten für die Anfrage sollten vorhandene Grundrisse, die geplante Nutzung, der Stand der Genehmigungsprüfung und Angaben zum Bestand umfassen.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Sind Durchgänge und Bewegungsflächen durchgehend möglich?</a:t>
            </a:r>
          </a:p>
        </p:txBody>
      </p:sp>
      <p:sp>
        <p:nvSpPr>
          <p:cNvPr id="3" name="Content Placeholder 2"/>
          <p:cNvSpPr>
            <a:spLocks noGrp="1"/>
          </p:cNvSpPr>
          <p:nvPr>
            <p:ph idx="1"/>
          </p:nvPr>
        </p:nvSpPr>
        <p:spPr/>
        <p:txBody>
          <a:bodyPr/>
          <a:lstStyle/>
          <a:p>
            <a:pPr>
              <a:defRPr sz="1800"/>
            </a:pPr>
            <a:r>
              <a:t>Lichte Durchgangsmaße sowie Bewegungsflächen vor und hinter jeder Tür sind entscheidend, damit Rollstuhl, Rollator oder Gehhilfe genutzt werden können und Möbel zugänglich bleiben. Dasselbe gilt für die Wege innerhalb des Anbaus und den Übergang zum Bestandsgebäude. Wird der Anbau über eine Öffnung in der Außenwand erreicht, muss diese die erforderliche Breite zulassen. Zugleich ist zu klären, wie Lasten über die Öffnung abgefangen werden. Tragwerksplanung und Gebäudeplanung sollten deshalb gemeinsam betrachtet werden, damit Barrierefreiheit nicht erst nach der Planungsphase eingearbeitet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Schwellen, Böden und Anschlüsse sicher geplant?</a:t>
            </a:r>
          </a:p>
        </p:txBody>
      </p:sp>
      <p:sp>
        <p:nvSpPr>
          <p:cNvPr id="3" name="Content Placeholder 2"/>
          <p:cNvSpPr>
            <a:spLocks noGrp="1"/>
          </p:cNvSpPr>
          <p:nvPr>
            <p:ph idx="1"/>
          </p:nvPr>
        </p:nvSpPr>
        <p:spPr/>
        <p:txBody>
          <a:bodyPr/>
          <a:lstStyle/>
          <a:p>
            <a:pPr>
              <a:defRPr sz="1800"/>
            </a:pPr>
            <a:r>
              <a:t>Zwischen Bestand, Anbau und Außenbereich sind schwellenlose Übergänge anzustreben. Bodenbeläge sollten eben und rutschhemmend sein, auch wenn sie mit Gehhilfe befahren werden. An Türöffnungen ist eine durchgehende Bodengleichheit wichtig, einschließlich der späteren Wiederherstellung nach Wanddurchbrüchen. Der Gebäudeanschluss benötigt eine eigene Prüfung: Dachanschluss, Entwässerung, Fugen und Luftdichtheit dürfen keine Stolperkanten oder weitere Barrieren erzeugen. Diese technischen Anforderungen gehören in die Planungsunterlagen und später in den Leistungsumfang.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Bad, WC und Haustechnik zu berücksichtigen?</a:t>
            </a:r>
          </a:p>
        </p:txBody>
      </p:sp>
      <p:sp>
        <p:nvSpPr>
          <p:cNvPr id="3" name="Content Placeholder 2"/>
          <p:cNvSpPr>
            <a:spLocks noGrp="1"/>
          </p:cNvSpPr>
          <p:nvPr>
            <p:ph idx="1"/>
          </p:nvPr>
        </p:nvSpPr>
        <p:spPr/>
        <p:txBody>
          <a:bodyPr/>
          <a:lstStyle/>
          <a:p>
            <a:pPr>
              <a:defRPr sz="1800"/>
            </a:pPr>
            <a:r>
              <a:t>Ein Bad im Anbau beeinflusst Tragwerk, Leitungswege und Anschlüsse. Zu klären ist, ob Wasser- und Abwasserleitungen sinnvoll an den Bestand angeschlossen werden können und welche Eingriffe dafür notwendig sind. Vor Dusche, Waschtisch und WC sind ausreichend Bewegungsflächen vorzusehen. Haltegriffe benötigen stabile Vorwandkonstruktionen, die statisch sauber in das Holzständerwerk eingebunden werden. Duschen sollten ohne Schwelle, mit rutschhemmendem Belag geplant werden; Waschtische unterfahrbar und Armaturen leicht bedienbar. Bei Heizung, Elektro und Sanitär ist außerdem zu prüfen, ob Anschlüsse, Abläufe, Warmwasser und Beleuchtung in das 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Bad, WC und Haustechnik zu berücksichtigen?</a:t>
            </a:r>
          </a:p>
        </p:txBody>
      </p:sp>
      <p:sp>
        <p:nvSpPr>
          <p:cNvPr id="3" name="Content Placeholder 2"/>
          <p:cNvSpPr>
            <a:spLocks noGrp="1"/>
          </p:cNvSpPr>
          <p:nvPr>
            <p:ph idx="1"/>
          </p:nvPr>
        </p:nvSpPr>
        <p:spPr/>
        <p:txBody>
          <a:bodyPr/>
          <a:lstStyle/>
          <a:p>
            <a:pPr>
              <a:defRPr sz="1800"/>
            </a:pPr>
            <a:r>
              <a:t>stehende Haus integrierbar sind.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Angebote für den barrierefreien Anbau vergleichbar?</a:t>
            </a:r>
          </a:p>
        </p:txBody>
      </p:sp>
      <p:sp>
        <p:nvSpPr>
          <p:cNvPr id="3" name="Content Placeholder 2"/>
          <p:cNvSpPr>
            <a:spLocks noGrp="1"/>
          </p:cNvSpPr>
          <p:nvPr>
            <p:ph idx="1"/>
          </p:nvPr>
        </p:nvSpPr>
        <p:spPr/>
        <p:txBody>
          <a:bodyPr/>
          <a:lstStyle/>
          <a:p>
            <a:pPr>
              <a:defRPr sz="1800"/>
            </a:pPr>
            <a:r>
              <a:t>Vergleichbare Angebote sollten Endzustand, Leistungspakete und Annahmen offenglegen. Wichtig sind Fragen zu Bodenbelägen, Sanitärobjekten und Haltegriffen, zur Wandöffnung, zu statischen Maßnahmen und zur Wiederherstellung angrenzender Räume. Auch Baustelleneinrichtung, Transport und Entsorgung müssen zugeordnet sein, besonders bei einem Anbau im bewohnten Zustand. Benannte Maße und Bewegungsflächen dürfen nicht unmarkierte Annahmen sein. Das Verfahren für ein Grundstück in Berlin und die Anforderungen an prüffähige Bauvorlagen sind gesondert bei den zuständigen Stellen zu prüfen. Der weiterführende Ratgeber Barrierefreier Holzanbau: Was bei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Angebote für den barrierefreien Anbau vergleichbar?</a:t>
            </a:r>
          </a:p>
        </p:txBody>
      </p:sp>
      <p:sp>
        <p:nvSpPr>
          <p:cNvPr id="3" name="Content Placeholder 2"/>
          <p:cNvSpPr>
            <a:spLocks noGrp="1"/>
          </p:cNvSpPr>
          <p:nvPr>
            <p:ph idx="1"/>
          </p:nvPr>
        </p:nvSpPr>
        <p:spPr/>
        <p:txBody>
          <a:bodyPr/>
          <a:lstStyle/>
          <a:p>
            <a:pPr>
              <a:defRPr sz="1800"/>
            </a:pPr>
            <a:r>
              <a:t>Planung und Ausstattung zählt bietet dafür eine vertiefende Grundlage.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Barrierefreier Holzanbau: Was bei Planung und Ausstattung zählt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