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anbauberlin/-/blob/5a993fbfc0e814fc32e977aa7e972fbfbdb58bd1/_posts/2026-10-18-eigenleistungen-teilgewerke-bauleitung-holzanbau.md" TargetMode="External"/><Relationship Id="rId3" Type="http://schemas.openxmlformats.org/officeDocument/2006/relationships/hyperlink" Target="https://holzundhaus.github.io/holzanbauberlin/dateien/minimax-bfa331a51709e4e01c77027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Eigenleistungen und Bauleitung beim Holzanbau: Was Bauherren selbst machen können · Erklärende Präsentation</a:t>
            </a:r>
          </a:p>
        </p:txBody>
      </p:sp>
      <p:sp>
        <p:nvSpPr>
          <p:cNvPr id="3" name="Content Placeholder 2"/>
          <p:cNvSpPr>
            <a:spLocks noGrp="1"/>
          </p:cNvSpPr>
          <p:nvPr>
            <p:ph idx="1"/>
          </p:nvPr>
        </p:nvSpPr>
        <p:spPr/>
        <p:txBody>
          <a:bodyPr/>
          <a:lstStyle/>
          <a:p>
            <a:r>
              <a:t>Überblick: Wer ein Holzhaus plant, kann einen Teil der Arbeiten selbst übernehmen. Entscheidend ist dabei nicht nur, ob eine Aufgabe handwerklich machbar ist, sondern auch ob Genehmigungen, Haftung und die Koordination verschiedener Gewerke berücksichtigt werden. Der folgende Leitfaden ordnet typische Eigenleistungen ein, zeigt Grenzen fachlicher Arbeiten und erklärt, wann Teilgewerke oder eine externe Bauleitung sinnvoll sein können. Dabei werden keine konkreten Preise oder individuellen Erfahrungen behauptet. Wer die Grundlagen zu Eigenleistungen und Bauleitung beim Holzanbau vertiefen möchte, findet im Überblick zum Holzanbau in Berlin sow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Eigenleistungen gut vorbereitet sind</a:t>
            </a:r>
          </a:p>
        </p:txBody>
      </p:sp>
      <p:sp>
        <p:nvSpPr>
          <p:cNvPr id="3" name="Content Placeholder 2"/>
          <p:cNvSpPr>
            <a:spLocks noGrp="1"/>
          </p:cNvSpPr>
          <p:nvPr>
            <p:ph idx="1"/>
          </p:nvPr>
        </p:nvSpPr>
        <p:spPr/>
        <p:txBody>
          <a:bodyPr/>
          <a:lstStyle/>
          <a:p>
            <a:pPr>
              <a:defRPr sz="1800"/>
            </a:pPr>
            <a:r>
              <a:t>Typische Eigenleistungen sind Aufgaben, die keinen besonderen Nachweis und keine spezielle Zulassung voraussetzen. Dazu gehören Maler- und Lackierarbeiten, das Verlegen von Bodenbelägen, Tapezierarbeiten, Reinigung sowie das Sortieren und Entsorgen von Bauschutt. Nach der Fertigstellung können auch Umzugs- und Einräumarbeiten übernommen werden. Voraussetzung ist, dass die Tätigkeit fachlich vertraut ist und die Arbeiten nicht in einem sensiblen konstruktiven oder sicherheitsrelevanten Bereich liegen. Sinnvoll ist außerdem, Tätigkeiten schriftlich festzuhalten. So bleibt nachvollziehbar, welche Arbeiten selbst erledigt wurden und welche Leistu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Eigenleistungen gut vorbereitet sind</a:t>
            </a:r>
          </a:p>
        </p:txBody>
      </p:sp>
      <p:sp>
        <p:nvSpPr>
          <p:cNvPr id="3" name="Content Placeholder 2"/>
          <p:cNvSpPr>
            <a:spLocks noGrp="1"/>
          </p:cNvSpPr>
          <p:nvPr>
            <p:ph idx="1"/>
          </p:nvPr>
        </p:nvSpPr>
        <p:spPr/>
        <p:txBody>
          <a:bodyPr/>
          <a:lstStyle/>
          <a:p>
            <a:pPr>
              <a:defRPr sz="1800"/>
            </a:pPr>
            <a:r>
              <a:t>ngen bei einem Fachbetrieb liegen. Wichtig ist außerdem eine realistische Zeiteinschätzung: Eine Aufgabe, die several Wochen benötigt, kann den Bauablauf verzögern, wenn sie zwischen zwei weiteren Gewerken erledigt werden soll.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Arbeiten Fachleuten vorbehalten bleiben</a:t>
            </a:r>
          </a:p>
        </p:txBody>
      </p:sp>
      <p:sp>
        <p:nvSpPr>
          <p:cNvPr id="3" name="Content Placeholder 2"/>
          <p:cNvSpPr>
            <a:spLocks noGrp="1"/>
          </p:cNvSpPr>
          <p:nvPr>
            <p:ph idx="1"/>
          </p:nvPr>
        </p:nvSpPr>
        <p:spPr/>
        <p:txBody>
          <a:bodyPr/>
          <a:lstStyle/>
          <a:p>
            <a:pPr>
              <a:defRPr sz="1800"/>
            </a:pPr>
            <a:r>
              <a:t>Nicht jede Arbeit am Holzhaus lässt sich beliebig in Eigenleistung umwandeln. Tragwerke und Holzrahmen benötigen statische Berechnung und eine fachgerechte Ausführung. Elektroinstallationen, Gasanschlüsse sowie Sanitär- und Heizungsarbeiten gehören in die Hände entsprechend qualifizierter Fachbetriebe. Auch bei Luftdichtheitsarbeiten ist Fachwissen erforderlich, insbesondere an Anschlüssen und Übergängen. Diese Tätigkeiten sollten nicht probingweise übernommen werden, wenn dadurch die Sicherheit, Funktion oder Genehmigungsfähigkeit des Gebäudes beeinträchtigt wird. Eigenleistungen ersetzen außerdem keine Prüfungen oder Genehmigungen. Das Verf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Arbeiten Fachleuten vorbehalten bleiben</a:t>
            </a:r>
          </a:p>
        </p:txBody>
      </p:sp>
      <p:sp>
        <p:nvSpPr>
          <p:cNvPr id="3" name="Content Placeholder 2"/>
          <p:cNvSpPr>
            <a:spLocks noGrp="1"/>
          </p:cNvSpPr>
          <p:nvPr>
            <p:ph idx="1"/>
          </p:nvPr>
        </p:nvSpPr>
        <p:spPr/>
        <p:txBody>
          <a:bodyPr/>
          <a:lstStyle/>
          <a:p>
            <a:pPr>
              <a:defRPr sz="1800"/>
            </a:pPr>
            <a:r>
              <a:t>ahren bleibt grundsätzlich gleich, unabhängig davon, wer einzelne Arbeitsschritte ausführt.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Teilgewerke: Flexibilität mit mehr Koordinationsaufwand</a:t>
            </a:r>
          </a:p>
        </p:txBody>
      </p:sp>
      <p:sp>
        <p:nvSpPr>
          <p:cNvPr id="3" name="Content Placeholder 2"/>
          <p:cNvSpPr>
            <a:spLocks noGrp="1"/>
          </p:cNvSpPr>
          <p:nvPr>
            <p:ph idx="1"/>
          </p:nvPr>
        </p:nvSpPr>
        <p:spPr/>
        <p:txBody>
          <a:bodyPr/>
          <a:lstStyle/>
          <a:p>
            <a:pPr>
              <a:defRPr sz="1800"/>
            </a:pPr>
            <a:r>
              <a:t>Bei Teilgewerken beauftragt der Bauherr einzelne Arbeiten direkt und steuert die Reihenfolge selbst. Das kann Vorteile bei der Auswahl von Handwerkern, bei der Terminplanung und bei möglichen Verhandlungen schaffen. Gleichzeitig liegt die Koordination beim Bauherrn. Schnittstellen zwischen Gewerken müssen überwacht, Abhängigkeiten erkannt und Verzögerungen eingeplant werden. Beginnt ein Gewerk erst, wenn ein anderes abgeschlossen ist, kann ein kleiner Verzögerungseffekt schnell weitere Arbeiten verzögern. Bei Mängeln wird außerdem die Haftungsfrage komplexer, wenn mehrere Unternehmen beteiligt sind. Teilgewerke eignen sich daher besonders für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Teilgewerke: Flexibilität mit mehr Koordinationsaufwand</a:t>
            </a:r>
          </a:p>
        </p:txBody>
      </p:sp>
      <p:sp>
        <p:nvSpPr>
          <p:cNvPr id="3" name="Content Placeholder 2"/>
          <p:cNvSpPr>
            <a:spLocks noGrp="1"/>
          </p:cNvSpPr>
          <p:nvPr>
            <p:ph idx="1"/>
          </p:nvPr>
        </p:nvSpPr>
        <p:spPr/>
        <p:txBody>
          <a:bodyPr/>
          <a:lstStyle/>
          <a:p>
            <a:pPr>
              <a:defRPr sz="1800"/>
            </a:pPr>
            <a:r>
              <a:t> Bauherren, die den Bauablauf gut einschätzen können und regelmäßig Aufgaben, Entscheidungen und Abstimmungen übernehmen.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Generalunternehmer, Eigenleistung oder externe Bauleitung</a:t>
            </a:r>
          </a:p>
        </p:txBody>
      </p:sp>
      <p:sp>
        <p:nvSpPr>
          <p:cNvPr id="3" name="Content Placeholder 2"/>
          <p:cNvSpPr>
            <a:spLocks noGrp="1"/>
          </p:cNvSpPr>
          <p:nvPr>
            <p:ph idx="1"/>
          </p:nvPr>
        </p:nvSpPr>
        <p:spPr/>
        <p:txBody>
          <a:bodyPr/>
          <a:lstStyle/>
          <a:p>
            <a:pPr>
              <a:defRPr sz="1800"/>
            </a:pPr>
            <a:r>
              <a:t>Die drei üblichen Modelle unterscheiden sich vor allem in der Verantwortung für die Steuerung. Beim Generalunternehmer übernimmt ein Unternehmen die Leistungen und koordiniert die Nachunternehmer. Der Bauherr hat einen zentralen Ansprechpartner und einen geringeren Abstimmungsaufwand. Bei Eigenleistungen mit Teilgewerken vergibt der Bauherr einzelne Gewerke selbst. Das ermöglicht eine direkte Einflussnahme, verlangt aber Erfahrung mit dem Bauablauf und den Schnittstellen. Eine externe Bauleitung oder ein Bauingenieur kann die Ausführung überwachen, Leistungen prüfen und die Interessen des Bauherrn gegenüber den Handwerkern vertreten. Dieses 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Generalunternehmer, Eigenleistung oder externe Bauleitung</a:t>
            </a:r>
          </a:p>
        </p:txBody>
      </p:sp>
      <p:sp>
        <p:nvSpPr>
          <p:cNvPr id="3" name="Content Placeholder 2"/>
          <p:cNvSpPr>
            <a:spLocks noGrp="1"/>
          </p:cNvSpPr>
          <p:nvPr>
            <p:ph idx="1"/>
          </p:nvPr>
        </p:nvSpPr>
        <p:spPr/>
        <p:txBody>
          <a:bodyPr/>
          <a:lstStyle/>
          <a:p>
            <a:pPr>
              <a:defRPr sz="1800"/>
            </a:pPr>
            <a:r>
              <a:t>odell ist besonders bei komplexeren Vorhaben oder bei eingeschränkter Anwesenheit vor Ort sinnvoll, weil die Koordination nicht vollständig vom Bauherrn abhängt.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Mischung aus Eigenleistung und Facharbeit</a:t>
            </a:r>
          </a:p>
        </p:txBody>
      </p:sp>
      <p:sp>
        <p:nvSpPr>
          <p:cNvPr id="3" name="Content Placeholder 2"/>
          <p:cNvSpPr>
            <a:spLocks noGrp="1"/>
          </p:cNvSpPr>
          <p:nvPr>
            <p:ph idx="1"/>
          </p:nvPr>
        </p:nvSpPr>
        <p:spPr/>
        <p:txBody>
          <a:bodyPr/>
          <a:lstStyle/>
          <a:p>
            <a:pPr>
              <a:defRPr sz="1800"/>
            </a:pPr>
            <a:r>
              <a:t>Die wirtschaftlichste Lösung ergibt sich oft aus einer bewussten Mischung: Routinearbeiten können selbst erledigt werden, während statisch, sicherheitsrelevant oder technisch anspruchsvolle Gewerke bei Fachbetrieben bleiben. Vor der Vergabe sollte der Bauherr eine Liste der geplanten Eigenleistungen erstellen, zeitliche Abhängigkeiten prüfen und festlegen, wer welche Schnittstellen verantwortet. Bei Unsicherheit ist die Vergabe eines Gewerks an Fachleute besser als eine spätere Korrektur. Wer die unterschiedlichen Modelle miteinander vergleichen möchte, sollte die Rolle der Bauleitung beim Holzanbau ebenso berücksichtigen wie die Grenzen der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Mischung aus Eigenleistung und Facharbeit</a:t>
            </a:r>
          </a:p>
        </p:txBody>
      </p:sp>
      <p:sp>
        <p:nvSpPr>
          <p:cNvPr id="3" name="Content Placeholder 2"/>
          <p:cNvSpPr>
            <a:spLocks noGrp="1"/>
          </p:cNvSpPr>
          <p:nvPr>
            <p:ph idx="1"/>
          </p:nvPr>
        </p:nvSpPr>
        <p:spPr/>
        <p:txBody>
          <a:bodyPr/>
          <a:lstStyle/>
          <a:p>
            <a:pPr>
              <a:defRPr sz="1800"/>
            </a:pPr>
            <a:r>
              <a:t>Eigenleistung. So bleiben Qualität, Terminplanung und Organisationsaufwand in einem nachvollziehbaren Verhältnis.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Eigenleistungen und Bauleitung beim Holzanbau: Was Bauherren selbst machen können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